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1645920"/>
            <a:ext cx="1097280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10058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Segoe UI"/>
              </a:defRPr>
            </a:pPr>
            <a:r>
              <a:t>Smart Campus Lost &amp; Found</a:t>
            </a:r>
          </a:p>
          <a:p>
            <a:pPr>
              <a:defRPr sz="4400" b="1">
                <a:solidFill>
                  <a:srgbClr val="818CF8"/>
                </a:solidFill>
                <a:latin typeface="Segoe UI"/>
              </a:defRPr>
            </a:pPr>
            <a:r>
              <a:t>Management System</a:t>
            </a:r>
          </a:p>
          <a:p>
            <a:pPr>
              <a:spcBef>
                <a:spcPts val="2000"/>
              </a:spcBef>
              <a:defRPr sz="1800">
                <a:solidFill>
                  <a:srgbClr val="CBD5E1"/>
                </a:solidFill>
                <a:latin typeface="Segoe UI"/>
              </a:defRPr>
            </a:pPr>
            <a:r>
              <a:t>A Distributed Cloud-Native Microservices Platform for Automated Campus Resource Recovery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5029200"/>
            <a:ext cx="233172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4F46E5"/>
                </a:solidFill>
                <a:latin typeface="Segoe UI"/>
              </a:defRPr>
            </a:pPr>
            <a:r>
              <a:t>ARCHITECTURE</a:t>
            </a:r>
          </a:p>
          <a:p>
            <a:pPr>
              <a:spcBef>
                <a:spcPts val="400"/>
              </a:spcBef>
              <a:defRPr sz="1300" b="1">
                <a:solidFill>
                  <a:srgbClr val="F1F5F9"/>
                </a:solidFill>
                <a:latin typeface="Segoe UI"/>
              </a:defRPr>
            </a:pPr>
            <a:r>
              <a:t>Spring Boot Microservices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11880" y="5029200"/>
            <a:ext cx="233172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4F46E5"/>
                </a:solidFill>
                <a:latin typeface="Segoe UI"/>
              </a:defRPr>
            </a:pPr>
            <a:r>
              <a:t>FRONTEND</a:t>
            </a:r>
          </a:p>
          <a:p>
            <a:pPr>
              <a:spcBef>
                <a:spcPts val="400"/>
              </a:spcBef>
              <a:defRPr sz="1300" b="1">
                <a:solidFill>
                  <a:srgbClr val="F1F5F9"/>
                </a:solidFill>
                <a:latin typeface="Segoe UI"/>
              </a:defRPr>
            </a:pPr>
            <a:r>
              <a:t>React 18 + Vite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5029200"/>
            <a:ext cx="233172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4F46E5"/>
                </a:solidFill>
                <a:latin typeface="Segoe UI"/>
              </a:defRPr>
            </a:pPr>
            <a:r>
              <a:t>DATABASE</a:t>
            </a:r>
          </a:p>
          <a:p>
            <a:pPr>
              <a:spcBef>
                <a:spcPts val="400"/>
              </a:spcBef>
              <a:defRPr sz="1300" b="1">
                <a:solidFill>
                  <a:srgbClr val="F1F5F9"/>
                </a:solidFill>
                <a:latin typeface="Segoe UI"/>
              </a:defRPr>
            </a:pPr>
            <a:r>
              <a:t>MySQL Persistent Storage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41080" y="5029200"/>
            <a:ext cx="233172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4F46E5"/>
                </a:solidFill>
                <a:latin typeface="Segoe UI"/>
              </a:defRPr>
            </a:pPr>
            <a:r>
              <a:t>DISCOVERY &amp; GATEWAY</a:t>
            </a:r>
          </a:p>
          <a:p>
            <a:pPr>
              <a:spcBef>
                <a:spcPts val="400"/>
              </a:spcBef>
              <a:defRPr sz="1300" b="1">
                <a:solidFill>
                  <a:srgbClr val="F1F5F9"/>
                </a:solidFill>
                <a:latin typeface="Segoe UI"/>
              </a:defRPr>
            </a:pPr>
            <a:r>
              <a:t>Spring Cloud Eureka + Gateway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Segoe UI"/>
              </a:defRPr>
            </a:pPr>
            <a:r>
              <a:t>PROJECT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The Problem: Traditional Campus Lost &amp; Found Challenges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578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0F172A"/>
                </a:solidFill>
                <a:latin typeface="Segoe UI"/>
              </a:defRPr>
            </a:pPr>
            <a:r>
              <a:t>Physical Notice Boards</a:t>
            </a:r>
          </a:p>
          <a:p>
            <a:pPr>
              <a:spcBef>
                <a:spcPts val="800"/>
              </a:spcBef>
              <a:defRPr sz="1300">
                <a:solidFill>
                  <a:srgbClr val="64748B"/>
                </a:solidFill>
                <a:latin typeface="Segoe UI"/>
              </a:defRPr>
            </a:pPr>
            <a:r>
              <a:t>Outdated physical bulletin boards are localized, easily missed, and cause huge delays in tracing lost belongings across massive university campuses.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2578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72200" y="1645920"/>
            <a:ext cx="52578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0F172A"/>
                </a:solidFill>
                <a:latin typeface="Segoe UI"/>
              </a:defRPr>
            </a:pPr>
            <a:r>
              <a:t>Fragmented Social Groups</a:t>
            </a:r>
          </a:p>
          <a:p>
            <a:pPr>
              <a:spcBef>
                <a:spcPts val="800"/>
              </a:spcBef>
              <a:defRPr sz="1300">
                <a:solidFill>
                  <a:srgbClr val="64748B"/>
                </a:solidFill>
                <a:latin typeface="Segoe UI"/>
              </a:defRPr>
            </a:pPr>
            <a:r>
              <a:t>Uncoordinated WhatsApp/Telegram groups create chaotic, unindexed feeds where posts get buried in minutes without structured search or ownership verification.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645920"/>
            <a:ext cx="5257800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2578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0F172A"/>
                </a:solidFill>
                <a:latin typeface="Segoe UI"/>
              </a:defRPr>
            </a:pPr>
            <a:r>
              <a:t>Lack of Claim Verification</a:t>
            </a:r>
          </a:p>
          <a:p>
            <a:pPr>
              <a:spcBef>
                <a:spcPts val="800"/>
              </a:spcBef>
              <a:defRPr sz="1300">
                <a:solidFill>
                  <a:srgbClr val="64748B"/>
                </a:solidFill>
                <a:latin typeface="Segoe UI"/>
              </a:defRPr>
            </a:pPr>
            <a:r>
              <a:t>Anyone can falsely claim expensive electronics or wallets. Manual handling lacks structured security questions, verification proofs, or approval workflows.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931920"/>
            <a:ext cx="525780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72200" y="3931920"/>
            <a:ext cx="52578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0F172A"/>
                </a:solidFill>
                <a:latin typeface="Segoe UI"/>
              </a:defRPr>
            </a:pPr>
            <a:r>
              <a:t>Zero Central Oversight</a:t>
            </a:r>
          </a:p>
          <a:p>
            <a:pPr>
              <a:spcBef>
                <a:spcPts val="800"/>
              </a:spcBef>
              <a:defRPr sz="1300">
                <a:solidFill>
                  <a:srgbClr val="64748B"/>
                </a:solidFill>
                <a:latin typeface="Segoe UI"/>
              </a:defRPr>
            </a:pPr>
            <a:r>
              <a:t>Campus security and faculty have no consolidated dashboard to track recovery rates, investigate disputed items, or prevent campus theft.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3931920"/>
            <a:ext cx="525780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Segoe UI"/>
              </a:defRPr>
            </a:pPr>
            <a:r>
              <a:t>SYSTEM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The Solution: Smart Campus Resource Recovery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2800" b="1">
                <a:solidFill>
                  <a:srgbClr val="4F46E5"/>
                </a:solidFill>
                <a:latin typeface="Segoe UI"/>
              </a:defRPr>
            </a:pPr>
            <a:r>
              <a:t>01</a:t>
            </a:r>
          </a:p>
          <a:p>
            <a:pPr>
              <a:spcBef>
                <a:spcPts val="1000"/>
              </a:spcBef>
              <a:defRPr sz="1600" b="1">
                <a:solidFill>
                  <a:srgbClr val="0F172A"/>
                </a:solidFill>
                <a:latin typeface="Segoe UI"/>
              </a:defRPr>
            </a:pPr>
            <a:r>
              <a:t>Centralized Web Portal</a:t>
            </a:r>
          </a:p>
          <a:p>
            <a:pPr>
              <a:spcBef>
                <a:spcPts val="1200"/>
              </a:spcBef>
              <a:defRPr sz="1300">
                <a:solidFill>
                  <a:srgbClr val="64748B"/>
                </a:solidFill>
                <a:latin typeface="Segoe UI"/>
              </a:defRPr>
            </a:pPr>
            <a:r>
              <a:t>Unified, responsive hub for reporting, browsing, and tracking all lost and found campus assets.</a:t>
            </a:r>
          </a:p>
          <a:p>
            <a:pPr>
              <a:spcBef>
                <a:spcPts val="2000"/>
              </a:spcBef>
              <a:defRPr sz="1100" b="1">
                <a:solidFill>
                  <a:srgbClr val="10B981"/>
                </a:solidFill>
                <a:latin typeface="Segoe UI"/>
              </a:defRPr>
            </a:pPr>
            <a:r>
              <a:t>Real-time updates &amp; persistent storage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2560320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29000" y="1645920"/>
            <a:ext cx="25603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2800" b="1">
                <a:solidFill>
                  <a:srgbClr val="4F46E5"/>
                </a:solidFill>
                <a:latin typeface="Segoe UI"/>
              </a:defRPr>
            </a:pPr>
            <a:r>
              <a:t>02</a:t>
            </a:r>
          </a:p>
          <a:p>
            <a:pPr>
              <a:spcBef>
                <a:spcPts val="1000"/>
              </a:spcBef>
              <a:defRPr sz="1600" b="1">
                <a:solidFill>
                  <a:srgbClr val="0F172A"/>
                </a:solidFill>
                <a:latin typeface="Segoe UI"/>
              </a:defRPr>
            </a:pPr>
            <a:r>
              <a:t>Automated Smart Matching</a:t>
            </a:r>
          </a:p>
          <a:p>
            <a:pPr>
              <a:spcBef>
                <a:spcPts val="1200"/>
              </a:spcBef>
              <a:defRPr sz="1300">
                <a:solidFill>
                  <a:srgbClr val="64748B"/>
                </a:solidFill>
                <a:latin typeface="Segoe UI"/>
              </a:defRPr>
            </a:pPr>
            <a:r>
              <a:t>Similarity matching algorithms pair lost item reports with reported found items by category &amp; keywords.</a:t>
            </a:r>
          </a:p>
          <a:p>
            <a:pPr>
              <a:spcBef>
                <a:spcPts val="2000"/>
              </a:spcBef>
              <a:defRPr sz="1100" b="1">
                <a:solidFill>
                  <a:srgbClr val="10B981"/>
                </a:solidFill>
                <a:latin typeface="Segoe UI"/>
              </a:defRPr>
            </a:pPr>
            <a:r>
              <a:t>Instant notification upon potential match</a:t>
            </a:r>
          </a:p>
        </p:txBody>
      </p:sp>
      <p:sp>
        <p:nvSpPr>
          <p:cNvPr id="8" name="Rectangle 7"/>
          <p:cNvSpPr/>
          <p:nvPr/>
        </p:nvSpPr>
        <p:spPr>
          <a:xfrm>
            <a:off x="3429000" y="1645920"/>
            <a:ext cx="2560320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26480" y="1645920"/>
            <a:ext cx="25603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2800" b="1">
                <a:solidFill>
                  <a:srgbClr val="4F46E5"/>
                </a:solidFill>
                <a:latin typeface="Segoe UI"/>
              </a:defRPr>
            </a:pPr>
            <a:r>
              <a:t>03</a:t>
            </a:r>
          </a:p>
          <a:p>
            <a:pPr>
              <a:spcBef>
                <a:spcPts val="1000"/>
              </a:spcBef>
              <a:defRPr sz="1600" b="1">
                <a:solidFill>
                  <a:srgbClr val="0F172A"/>
                </a:solidFill>
                <a:latin typeface="Segoe UI"/>
              </a:defRPr>
            </a:pPr>
            <a:r>
              <a:t>Rigorous Claim Workflow</a:t>
            </a:r>
          </a:p>
          <a:p>
            <a:pPr>
              <a:spcBef>
                <a:spcPts val="1200"/>
              </a:spcBef>
              <a:defRPr sz="1300">
                <a:solidFill>
                  <a:srgbClr val="64748B"/>
                </a:solidFill>
                <a:latin typeface="Segoe UI"/>
              </a:defRPr>
            </a:pPr>
            <a:r>
              <a:t>Students submit proof descriptions &amp; answer verification questions; finders or admins approve claims.</a:t>
            </a:r>
          </a:p>
          <a:p>
            <a:pPr>
              <a:spcBef>
                <a:spcPts val="2000"/>
              </a:spcBef>
              <a:defRPr sz="1100" b="1">
                <a:solidFill>
                  <a:srgbClr val="10B981"/>
                </a:solidFill>
                <a:latin typeface="Segoe UI"/>
              </a:defRPr>
            </a:pPr>
            <a:r>
              <a:t>Eliminates false claims &amp; identity theft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645920"/>
            <a:ext cx="2560320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823960" y="1645920"/>
            <a:ext cx="25603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2800" b="1">
                <a:solidFill>
                  <a:srgbClr val="4F46E5"/>
                </a:solidFill>
                <a:latin typeface="Segoe UI"/>
              </a:defRPr>
            </a:pPr>
            <a:r>
              <a:t>04</a:t>
            </a:r>
          </a:p>
          <a:p>
            <a:pPr>
              <a:spcBef>
                <a:spcPts val="1000"/>
              </a:spcBef>
              <a:defRPr sz="1600" b="1">
                <a:solidFill>
                  <a:srgbClr val="0F172A"/>
                </a:solidFill>
                <a:latin typeface="Segoe UI"/>
              </a:defRPr>
            </a:pPr>
            <a:r>
              <a:t>Real Image Management</a:t>
            </a:r>
          </a:p>
          <a:p>
            <a:pPr>
              <a:spcBef>
                <a:spcPts val="1200"/>
              </a:spcBef>
              <a:defRPr sz="1300">
                <a:solidFill>
                  <a:srgbClr val="64748B"/>
                </a:solidFill>
                <a:latin typeface="Segoe UI"/>
              </a:defRPr>
            </a:pPr>
            <a:r>
              <a:t>Support for JPG, PNG, WEBP user photo uploads with Cloudinary CDN &amp; local file system fallback.</a:t>
            </a:r>
          </a:p>
          <a:p>
            <a:pPr>
              <a:spcBef>
                <a:spcPts val="2000"/>
              </a:spcBef>
              <a:defRPr sz="1100" b="1">
                <a:solidFill>
                  <a:srgbClr val="10B981"/>
                </a:solidFill>
                <a:latin typeface="Segoe UI"/>
              </a:defRPr>
            </a:pPr>
            <a:r>
              <a:t>Transparent visual item identification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23960" y="1645920"/>
            <a:ext cx="2560320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Segoe UI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Distributed Microservices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F172A"/>
                </a:solidFill>
                <a:latin typeface="Segoe UI"/>
              </a:defRPr>
            </a:pPr>
            <a:r>
              <a:t>API Gateway</a:t>
            </a:r>
          </a:p>
          <a:p>
            <a:pPr>
              <a:spcBef>
                <a:spcPts val="200"/>
              </a:spcBef>
              <a:defRPr sz="1000" b="1">
                <a:solidFill>
                  <a:srgbClr val="4F46E5"/>
                </a:solidFill>
                <a:latin typeface="Segoe UI"/>
              </a:defRPr>
            </a:pPr>
            <a:r>
              <a:t>Port 8080 • Spring Cloud Gateway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Central ingress routing, global CORS, request filtering, and authentication header forwarding.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645920"/>
            <a:ext cx="25603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F172A"/>
                </a:solidFill>
                <a:latin typeface="Segoe UI"/>
              </a:defRPr>
            </a:pPr>
            <a:r>
              <a:t>Eureka Server</a:t>
            </a:r>
          </a:p>
          <a:p>
            <a:pPr>
              <a:spcBef>
                <a:spcPts val="200"/>
              </a:spcBef>
              <a:defRPr sz="1000" b="1">
                <a:solidFill>
                  <a:srgbClr val="4F46E5"/>
                </a:solidFill>
                <a:latin typeface="Segoe UI"/>
              </a:defRPr>
            </a:pPr>
            <a:r>
              <a:t>Port 8761 • Netflix Eureka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Service registry &amp; discovery enabling dynamic client load balancing and zero hardcoded service hosts.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25603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F172A"/>
                </a:solidFill>
                <a:latin typeface="Segoe UI"/>
              </a:defRPr>
            </a:pPr>
            <a:r>
              <a:t>Auth Service</a:t>
            </a:r>
          </a:p>
          <a:p>
            <a:pPr>
              <a:spcBef>
                <a:spcPts val="200"/>
              </a:spcBef>
              <a:defRPr sz="1000" b="1">
                <a:solidFill>
                  <a:srgbClr val="4F46E5"/>
                </a:solidFill>
                <a:latin typeface="Segoe UI"/>
              </a:defRPr>
            </a:pPr>
            <a:r>
              <a:t>Port 8081 • Spring Security + JWT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User registration, credential authentication, role assignment (Student/Admin), and token signing.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1645920"/>
            <a:ext cx="25603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F172A"/>
                </a:solidFill>
                <a:latin typeface="Segoe UI"/>
              </a:defRPr>
            </a:pPr>
            <a:r>
              <a:t>Item Service</a:t>
            </a:r>
          </a:p>
          <a:p>
            <a:pPr>
              <a:spcBef>
                <a:spcPts val="200"/>
              </a:spcBef>
              <a:defRPr sz="1000" b="1">
                <a:solidFill>
                  <a:srgbClr val="4F46E5"/>
                </a:solidFill>
                <a:latin typeface="Segoe UI"/>
              </a:defRPr>
            </a:pPr>
            <a:r>
              <a:t>Port 8082 • Spring Boot + JPA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Core CRUD for Lost/Found items, category filters, multi-part image uploads, and storage orchestration.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77639"/>
            <a:ext cx="34747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F172A"/>
                </a:solidFill>
                <a:latin typeface="Segoe UI"/>
              </a:defRPr>
            </a:pPr>
            <a:r>
              <a:t>Claim Service</a:t>
            </a:r>
          </a:p>
          <a:p>
            <a:pPr>
              <a:spcBef>
                <a:spcPts val="200"/>
              </a:spcBef>
              <a:defRPr sz="1000" b="1">
                <a:solidFill>
                  <a:srgbClr val="2563EB"/>
                </a:solidFill>
                <a:latin typeface="Segoe UI"/>
              </a:defRPr>
            </a:pPr>
            <a:r>
              <a:t>Port 8083 • Spring Boot + JPA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Claim lifecycle state machine (PENDING, APPROVED, REJECTED) with claim proof validation.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3977639"/>
            <a:ext cx="34747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F172A"/>
                </a:solidFill>
                <a:latin typeface="Segoe UI"/>
              </a:defRPr>
            </a:pPr>
            <a:r>
              <a:t>Matching Service</a:t>
            </a:r>
          </a:p>
          <a:p>
            <a:pPr>
              <a:spcBef>
                <a:spcPts val="200"/>
              </a:spcBef>
              <a:defRPr sz="1000" b="1">
                <a:solidFill>
                  <a:srgbClr val="2563EB"/>
                </a:solidFill>
                <a:latin typeface="Segoe UI"/>
              </a:defRPr>
            </a:pPr>
            <a:r>
              <a:t>Port 8084 • Spring Cloud OpenFeign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Intelligent scoring engine that queries Item Service to detect matching Lost &amp; Found entries.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3977639"/>
            <a:ext cx="34747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F172A"/>
                </a:solidFill>
                <a:latin typeface="Segoe UI"/>
              </a:defRPr>
            </a:pPr>
            <a:r>
              <a:t>Notification Service</a:t>
            </a:r>
          </a:p>
          <a:p>
            <a:pPr>
              <a:spcBef>
                <a:spcPts val="200"/>
              </a:spcBef>
              <a:defRPr sz="1000" b="1">
                <a:solidFill>
                  <a:srgbClr val="2563EB"/>
                </a:solidFill>
                <a:latin typeface="Segoe UI"/>
              </a:defRPr>
            </a:pPr>
            <a:r>
              <a:t>Port 8085 • Spring Boot + JPA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In-app notification broker providing real-time alerts for matches, claim status updates, and reports.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Segoe UI"/>
              </a:defRPr>
            </a:pPr>
            <a:r>
              <a:t>TECHNICAL SPECIFICATIONS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End-to-End Technology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>
              <a:spcBef>
                <a:spcPts val="1000"/>
              </a:spcBef>
              <a:defRPr sz="900" b="1">
                <a:solidFill>
                  <a:srgbClr val="64748B"/>
                </a:solidFill>
                <a:latin typeface="Segoe UI"/>
              </a:defRPr>
            </a:pPr>
            <a:r>
              <a:t>FRAMEWORK</a:t>
            </a:r>
          </a:p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Spring Boot 3.x / Java 17</a:t>
            </a:r>
          </a:p>
          <a:p>
            <a:pPr>
              <a:spcBef>
                <a:spcPts val="1000"/>
              </a:spcBef>
              <a:defRPr sz="900" b="1">
                <a:solidFill>
                  <a:srgbClr val="64748B"/>
                </a:solidFill>
                <a:latin typeface="Segoe UI"/>
              </a:defRPr>
            </a:pPr>
            <a:r>
              <a:t>SERVICE DISCOVERY</a:t>
            </a:r>
          </a:p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Spring Cloud Netflix Eureka</a:t>
            </a:r>
          </a:p>
          <a:p>
            <a:pPr>
              <a:spcBef>
                <a:spcPts val="1000"/>
              </a:spcBef>
              <a:defRPr sz="900" b="1">
                <a:solidFill>
                  <a:srgbClr val="64748B"/>
                </a:solidFill>
                <a:latin typeface="Segoe UI"/>
              </a:defRPr>
            </a:pPr>
            <a:r>
              <a:t>GATEWAY &amp; ROUTING</a:t>
            </a:r>
          </a:p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Spring Cloud Gateway</a:t>
            </a:r>
          </a:p>
          <a:p>
            <a:pPr>
              <a:spcBef>
                <a:spcPts val="1000"/>
              </a:spcBef>
              <a:defRPr sz="900" b="1">
                <a:solidFill>
                  <a:srgbClr val="64748B"/>
                </a:solidFill>
                <a:latin typeface="Segoe UI"/>
              </a:defRPr>
            </a:pPr>
            <a:r>
              <a:t>INTER-SERVICE COMMS</a:t>
            </a:r>
          </a:p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Spring Cloud OpenFeign</a:t>
            </a:r>
          </a:p>
          <a:p>
            <a:pPr>
              <a:spcBef>
                <a:spcPts val="1000"/>
              </a:spcBef>
              <a:defRPr sz="900" b="1">
                <a:solidFill>
                  <a:srgbClr val="64748B"/>
                </a:solidFill>
                <a:latin typeface="Segoe UI"/>
              </a:defRPr>
            </a:pPr>
            <a:r>
              <a:t>PERSISTENCE</a:t>
            </a:r>
          </a:p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Spring Data JPA / Hibernate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2560320" cy="5486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Backend Services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645920"/>
            <a:ext cx="25603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>
              <a:spcBef>
                <a:spcPts val="1000"/>
              </a:spcBef>
              <a:defRPr sz="900" b="1">
                <a:solidFill>
                  <a:srgbClr val="64748B"/>
                </a:solidFill>
                <a:latin typeface="Segoe UI"/>
              </a:defRPr>
            </a:pPr>
            <a:r>
              <a:t>CORE LIBRARY</a:t>
            </a:r>
          </a:p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React 18 (Hooks, Context API)</a:t>
            </a:r>
          </a:p>
          <a:p>
            <a:pPr>
              <a:spcBef>
                <a:spcPts val="1000"/>
              </a:spcBef>
              <a:defRPr sz="900" b="1">
                <a:solidFill>
                  <a:srgbClr val="64748B"/>
                </a:solidFill>
                <a:latin typeface="Segoe UI"/>
              </a:defRPr>
            </a:pPr>
            <a:r>
              <a:t>BUILD TOOL</a:t>
            </a:r>
          </a:p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Vite (Fast HMR &amp; Bundling)</a:t>
            </a:r>
          </a:p>
          <a:p>
            <a:pPr>
              <a:spcBef>
                <a:spcPts val="1000"/>
              </a:spcBef>
              <a:defRPr sz="900" b="1">
                <a:solidFill>
                  <a:srgbClr val="64748B"/>
                </a:solidFill>
                <a:latin typeface="Segoe UI"/>
              </a:defRPr>
            </a:pPr>
            <a:r>
              <a:t>UI STYLING</a:t>
            </a:r>
          </a:p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TailwindCSS + Responsive Design</a:t>
            </a:r>
          </a:p>
          <a:p>
            <a:pPr>
              <a:spcBef>
                <a:spcPts val="1000"/>
              </a:spcBef>
              <a:defRPr sz="900" b="1">
                <a:solidFill>
                  <a:srgbClr val="64748B"/>
                </a:solidFill>
                <a:latin typeface="Segoe UI"/>
              </a:defRPr>
            </a:pPr>
            <a:r>
              <a:t>ICONS &amp; ASSETS</a:t>
            </a:r>
          </a:p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Lucide React Icons</a:t>
            </a:r>
          </a:p>
          <a:p>
            <a:pPr>
              <a:spcBef>
                <a:spcPts val="1000"/>
              </a:spcBef>
              <a:defRPr sz="900" b="1">
                <a:solidFill>
                  <a:srgbClr val="64748B"/>
                </a:solidFill>
                <a:latin typeface="Segoe UI"/>
              </a:defRPr>
            </a:pPr>
            <a:r>
              <a:t>HTTP CLIENT</a:t>
            </a:r>
          </a:p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Axios with JWT Interceptors</a:t>
            </a:r>
          </a:p>
        </p:txBody>
      </p:sp>
      <p:sp>
        <p:nvSpPr>
          <p:cNvPr id="8" name="Rectangle 7"/>
          <p:cNvSpPr/>
          <p:nvPr/>
        </p:nvSpPr>
        <p:spPr>
          <a:xfrm>
            <a:off x="3429000" y="1645920"/>
            <a:ext cx="2560320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Frontend Web App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645920"/>
            <a:ext cx="25603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>
              <a:spcBef>
                <a:spcPts val="1000"/>
              </a:spcBef>
              <a:defRPr sz="900" b="1">
                <a:solidFill>
                  <a:srgbClr val="64748B"/>
                </a:solidFill>
                <a:latin typeface="Segoe UI"/>
              </a:defRPr>
            </a:pPr>
            <a:r>
              <a:t>PRIMARY RDBMS</a:t>
            </a:r>
          </a:p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MySQL 8.0 (smart_campus db)</a:t>
            </a:r>
          </a:p>
          <a:p>
            <a:pPr>
              <a:spcBef>
                <a:spcPts val="1000"/>
              </a:spcBef>
              <a:defRPr sz="900" b="1">
                <a:solidFill>
                  <a:srgbClr val="64748B"/>
                </a:solidFill>
                <a:latin typeface="Segoe UI"/>
              </a:defRPr>
            </a:pPr>
            <a:r>
              <a:t>DDL STRATEGY</a:t>
            </a:r>
          </a:p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Hibernate update mode</a:t>
            </a:r>
          </a:p>
          <a:p>
            <a:pPr>
              <a:spcBef>
                <a:spcPts val="1000"/>
              </a:spcBef>
              <a:defRPr sz="900" b="1">
                <a:solidFill>
                  <a:srgbClr val="64748B"/>
                </a:solidFill>
                <a:latin typeface="Segoe UI"/>
              </a:defRPr>
            </a:pPr>
            <a:r>
              <a:t>CLOUD IMAGE CDN</a:t>
            </a:r>
          </a:p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Cloudinary REST API</a:t>
            </a:r>
          </a:p>
          <a:p>
            <a:pPr>
              <a:spcBef>
                <a:spcPts val="1000"/>
              </a:spcBef>
              <a:defRPr sz="900" b="1">
                <a:solidFill>
                  <a:srgbClr val="64748B"/>
                </a:solidFill>
                <a:latin typeface="Segoe UI"/>
              </a:defRPr>
            </a:pPr>
            <a:r>
              <a:t>LOCAL FALLBACK</a:t>
            </a:r>
          </a:p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Spring Static Resource Uploads</a:t>
            </a:r>
          </a:p>
          <a:p>
            <a:pPr>
              <a:spcBef>
                <a:spcPts val="1000"/>
              </a:spcBef>
              <a:defRPr sz="900" b="1">
                <a:solidFill>
                  <a:srgbClr val="64748B"/>
                </a:solidFill>
                <a:latin typeface="Segoe UI"/>
              </a:defRPr>
            </a:pPr>
            <a:r>
              <a:t>IN-MEMORY TESTING</a:t>
            </a:r>
          </a:p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H2 Database Profile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645920"/>
            <a:ext cx="2560320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Database &amp; Storage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645920"/>
            <a:ext cx="25603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>
              <a:spcBef>
                <a:spcPts val="1000"/>
              </a:spcBef>
              <a:defRPr sz="900" b="1">
                <a:solidFill>
                  <a:srgbClr val="64748B"/>
                </a:solidFill>
                <a:latin typeface="Segoe UI"/>
              </a:defRPr>
            </a:pPr>
            <a:r>
              <a:t>AUTHENTICATION</a:t>
            </a:r>
          </a:p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Stateless JWT (HMAC-SHA256)</a:t>
            </a:r>
          </a:p>
          <a:p>
            <a:pPr>
              <a:spcBef>
                <a:spcPts val="1000"/>
              </a:spcBef>
              <a:defRPr sz="900" b="1">
                <a:solidFill>
                  <a:srgbClr val="64748B"/>
                </a:solidFill>
                <a:latin typeface="Segoe UI"/>
              </a:defRPr>
            </a:pPr>
            <a:r>
              <a:t>PASSWORD SECURITY</a:t>
            </a:r>
          </a:p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BCrypt Salted Hash</a:t>
            </a:r>
          </a:p>
          <a:p>
            <a:pPr>
              <a:spcBef>
                <a:spcPts val="1000"/>
              </a:spcBef>
              <a:defRPr sz="900" b="1">
                <a:solidFill>
                  <a:srgbClr val="64748B"/>
                </a:solidFill>
                <a:latin typeface="Segoe UI"/>
              </a:defRPr>
            </a:pPr>
            <a:r>
              <a:t>CONTAINERIZATION</a:t>
            </a:r>
          </a:p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Docker &amp; Docker Compose</a:t>
            </a:r>
          </a:p>
          <a:p>
            <a:pPr>
              <a:spcBef>
                <a:spcPts val="1000"/>
              </a:spcBef>
              <a:defRPr sz="900" b="1">
                <a:solidFill>
                  <a:srgbClr val="64748B"/>
                </a:solidFill>
                <a:latin typeface="Segoe UI"/>
              </a:defRPr>
            </a:pPr>
            <a:r>
              <a:t>ENVIRONMENT CONFIG</a:t>
            </a:r>
          </a:p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Dotenv (.env / .env.example)</a:t>
            </a:r>
          </a:p>
          <a:p>
            <a:pPr>
              <a:spcBef>
                <a:spcPts val="1000"/>
              </a:spcBef>
              <a:defRPr sz="900" b="1">
                <a:solidFill>
                  <a:srgbClr val="64748B"/>
                </a:solidFill>
                <a:latin typeface="Segoe UI"/>
              </a:defRPr>
            </a:pPr>
            <a:r>
              <a:t>VERSION CONTROL</a:t>
            </a:r>
          </a:p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Git + Strict .gitignore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23960" y="1645920"/>
            <a:ext cx="2560320" cy="548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DevOps &amp; Security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Segoe UI"/>
              </a:defRPr>
            </a:pPr>
            <a:r>
              <a:t>SYSTEM FUNCTIONALITY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Key Features &amp; Campus Workflows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5912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Item Reporting with Media: </a:t>
            </a:r>
            <a:r>
              <a:rPr b="0">
                <a:solidFill>
                  <a:srgbClr val="64748B"/>
                </a:solidFill>
              </a:rPr>
              <a:t>Quick reporting modals for LOST or FOUND items. Supports item name, category (Electronics, Documents, Wallets, etc.), location, date, description, and direct image upload (JPG/PNG/WEBP).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91440" cy="7772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2542032"/>
            <a:ext cx="10725912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Live Student Dashboard: </a:t>
            </a:r>
            <a:r>
              <a:rPr b="0">
                <a:solidFill>
                  <a:srgbClr val="64748B"/>
                </a:solidFill>
              </a:rPr>
              <a:t>Dynamic counts for Total Reports, Active Lost Items, and Found Items. Automatically re-evaluates statistics upon report submission without needing full page refresh.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542032"/>
            <a:ext cx="91440" cy="7772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3438144"/>
            <a:ext cx="10725912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Intelligent Similarity Matching: </a:t>
            </a:r>
            <a:r>
              <a:rPr b="0">
                <a:solidFill>
                  <a:srgbClr val="64748B"/>
                </a:solidFill>
              </a:rPr>
              <a:t>Matching Service continuously cross-references newly submitted items with existing reports, pairing potential owners with finders based on text and category overlaps.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438144"/>
            <a:ext cx="91440" cy="7772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4334256"/>
            <a:ext cx="10725912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Secure Claim Pipeline: </a:t>
            </a:r>
            <a:r>
              <a:rPr b="0">
                <a:solidFill>
                  <a:srgbClr val="64748B"/>
                </a:solidFill>
              </a:rPr>
              <a:t>Claimants submit verifiable ownership proofs. Original reporters inspect answers and can approve or decline claims. Admin overrides ensure fair dispute resolution.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334256"/>
            <a:ext cx="91440" cy="7772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5230368"/>
            <a:ext cx="10725912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Centralized Admin Console: </a:t>
            </a:r>
            <a:r>
              <a:rPr b="0">
                <a:solidFill>
                  <a:srgbClr val="64748B"/>
                </a:solidFill>
              </a:rPr>
              <a:t>Campus authorities oversee all lost/found activity, monitor unresolved reports, review claims across the university, and preserve campus accountability.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5230368"/>
            <a:ext cx="91440" cy="7772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Segoe UI"/>
              </a:defRPr>
            </a:pPr>
            <a:r>
              <a:t>MEDIA SUBSYSTEM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Resilient Image Upload &amp; Storage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578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800" b="1">
                <a:solidFill>
                  <a:srgbClr val="0F172A"/>
                </a:solidFill>
                <a:latin typeface="Segoe UI"/>
              </a:defRPr>
            </a:pPr>
            <a:r>
              <a:t>Cloud-Native Mode: Cloudinary CDN</a:t>
            </a:r>
          </a:p>
          <a:p>
            <a:pPr>
              <a:spcBef>
                <a:spcPts val="1000"/>
              </a:spcBef>
              <a:defRPr sz="1300">
                <a:solidFill>
                  <a:srgbClr val="64748B"/>
                </a:solidFill>
                <a:latin typeface="Segoe UI"/>
              </a:defRPr>
            </a:pPr>
            <a:r>
              <a:t>•  Uploads multipart images directly to Cloudinary cloud infrastructure via REST SDK.</a:t>
            </a:r>
          </a:p>
          <a:p>
            <a:pPr>
              <a:spcBef>
                <a:spcPts val="1000"/>
              </a:spcBef>
              <a:defRPr sz="1300">
                <a:solidFill>
                  <a:srgbClr val="64748B"/>
                </a:solidFill>
                <a:latin typeface="Segoe UI"/>
              </a:defRPr>
            </a:pPr>
            <a:r>
              <a:t>•  Automatic cloud transformation, responsive optimization, and secure CDN distribution.</a:t>
            </a:r>
          </a:p>
          <a:p>
            <a:pPr>
              <a:spcBef>
                <a:spcPts val="1000"/>
              </a:spcBef>
              <a:defRPr sz="1300">
                <a:solidFill>
                  <a:srgbClr val="64748B"/>
                </a:solidFill>
                <a:latin typeface="Segoe UI"/>
              </a:defRPr>
            </a:pPr>
            <a:r>
              <a:t>•  Zero campus server disk overhead; highly scalable for large university student bodies.</a:t>
            </a:r>
          </a:p>
          <a:p>
            <a:pPr>
              <a:spcBef>
                <a:spcPts val="1000"/>
              </a:spcBef>
              <a:defRPr sz="1300">
                <a:solidFill>
                  <a:srgbClr val="64748B"/>
                </a:solidFill>
                <a:latin typeface="Segoe UI"/>
              </a:defRPr>
            </a:pPr>
            <a:r>
              <a:t>•  Secure credential decoupling using environment variables (CLOUDINARY_CLOUD_NAME, etc.).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257800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578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800" b="1">
                <a:solidFill>
                  <a:srgbClr val="0F172A"/>
                </a:solidFill>
                <a:latin typeface="Segoe UI"/>
              </a:defRPr>
            </a:pPr>
            <a:r>
              <a:t>Local Resilient Fallback: Disk Storage</a:t>
            </a:r>
          </a:p>
          <a:p>
            <a:pPr>
              <a:spcBef>
                <a:spcPts val="1000"/>
              </a:spcBef>
              <a:defRPr sz="1300">
                <a:solidFill>
                  <a:srgbClr val="64748B"/>
                </a:solidFill>
                <a:latin typeface="Segoe UI"/>
              </a:defRPr>
            </a:pPr>
            <a:r>
              <a:t>•  Automatic failover: If Cloudinary credentials are absent, uploads are saved locally in /uploads/.</a:t>
            </a:r>
          </a:p>
          <a:p>
            <a:pPr>
              <a:spcBef>
                <a:spcPts val="1000"/>
              </a:spcBef>
              <a:defRPr sz="1300">
                <a:solidFill>
                  <a:srgbClr val="64748B"/>
                </a:solidFill>
                <a:latin typeface="Segoe UI"/>
              </a:defRPr>
            </a:pPr>
            <a:r>
              <a:t>•  Unique UUID naming (e.g. {UUID}.png) guarantees zero filename collisions or overwrites.</a:t>
            </a:r>
          </a:p>
          <a:p>
            <a:pPr>
              <a:spcBef>
                <a:spcPts val="1000"/>
              </a:spcBef>
              <a:defRPr sz="1300">
                <a:solidFill>
                  <a:srgbClr val="64748B"/>
                </a:solidFill>
                <a:latin typeface="Segoe UI"/>
              </a:defRPr>
            </a:pPr>
            <a:r>
              <a:t>•  Spring WebMvcConfigurer static resource handler exposes /uploads/** directly via HTTP.</a:t>
            </a:r>
          </a:p>
          <a:p>
            <a:pPr>
              <a:spcBef>
                <a:spcPts val="1000"/>
              </a:spcBef>
              <a:defRPr sz="1300">
                <a:solidFill>
                  <a:srgbClr val="64748B"/>
                </a:solidFill>
                <a:latin typeface="Segoe UI"/>
              </a:defRPr>
            </a:pPr>
            <a:r>
              <a:t>•  Preserves offline &amp; local development continuity with zero external internet dependencies.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525780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Segoe UI"/>
              </a:defRPr>
            </a:pPr>
            <a:r>
              <a:t>SECURITY &amp;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Security Framework &amp; Data Integrity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578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700" b="1">
                <a:solidFill>
                  <a:srgbClr val="0F172A"/>
                </a:solidFill>
                <a:latin typeface="Segoe UI"/>
              </a:defRPr>
            </a:pPr>
            <a:r>
              <a:t>Stateless JWT Authentication</a:t>
            </a:r>
          </a:p>
          <a:p>
            <a:pPr>
              <a:spcBef>
                <a:spcPts val="800"/>
              </a:spcBef>
              <a:defRPr sz="1300">
                <a:solidFill>
                  <a:srgbClr val="64748B"/>
                </a:solidFill>
                <a:latin typeface="Segoe UI"/>
              </a:defRPr>
            </a:pPr>
            <a:r>
              <a:t>Tokens signed using HMAC-SHA256 containing userId, username, and assigned roles. Expire securely and authenticate every microservice request.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257800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72200" y="1645920"/>
            <a:ext cx="52578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700" b="1">
                <a:solidFill>
                  <a:srgbClr val="0F172A"/>
                </a:solidFill>
                <a:latin typeface="Segoe UI"/>
              </a:defRPr>
            </a:pPr>
            <a:r>
              <a:t>Role-Based Access Control (RBAC)</a:t>
            </a:r>
          </a:p>
          <a:p>
            <a:pPr>
              <a:spcBef>
                <a:spcPts val="800"/>
              </a:spcBef>
              <a:defRPr sz="1300">
                <a:solidFill>
                  <a:srgbClr val="64748B"/>
                </a:solidFill>
                <a:latin typeface="Segoe UI"/>
              </a:defRPr>
            </a:pPr>
            <a:r>
              <a:t>Students access reporting, claiming, and personalized dashboard feeds. Administrators hold elevated privileges for platform auditing and claim resolution.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645920"/>
            <a:ext cx="525780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2578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700" b="1">
                <a:solidFill>
                  <a:srgbClr val="0F172A"/>
                </a:solidFill>
                <a:latin typeface="Segoe UI"/>
              </a:defRPr>
            </a:pPr>
            <a:r>
              <a:t>Gateway Token Relay &amp; CORS</a:t>
            </a:r>
          </a:p>
          <a:p>
            <a:pPr>
              <a:spcBef>
                <a:spcPts val="800"/>
              </a:spcBef>
              <a:defRPr sz="1300">
                <a:solidFill>
                  <a:srgbClr val="64748B"/>
                </a:solidFill>
                <a:latin typeface="Segoe UI"/>
              </a:defRPr>
            </a:pPr>
            <a:r>
              <a:t>Centralized API Gateway validates CORS headers and injects user context downstream, insulating internal microservices behind a secured network boundary.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931920"/>
            <a:ext cx="525780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72200" y="3931920"/>
            <a:ext cx="52578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700" b="1">
                <a:solidFill>
                  <a:srgbClr val="0F172A"/>
                </a:solidFill>
                <a:latin typeface="Segoe UI"/>
              </a:defRPr>
            </a:pPr>
            <a:r>
              <a:t>Durable Database Persistence</a:t>
            </a:r>
          </a:p>
          <a:p>
            <a:pPr>
              <a:spcBef>
                <a:spcPts val="800"/>
              </a:spcBef>
              <a:defRPr sz="1300">
                <a:solidFill>
                  <a:srgbClr val="64748B"/>
                </a:solidFill>
                <a:latin typeface="Segoe UI"/>
              </a:defRPr>
            </a:pPr>
            <a:r>
              <a:t>Hibernate DDL configured to update mode, preventing accidental drops. Sensitive credentials managed through environment files (.env) ignored by Git.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3931920"/>
            <a:ext cx="52578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Segoe UI"/>
              </a:defRPr>
            </a:pPr>
            <a:r>
              <a:t>OUTCOMES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System Impact &amp; Future Enhancements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578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800" b="1">
                <a:solidFill>
                  <a:srgbClr val="0F172A"/>
                </a:solidFill>
                <a:latin typeface="Segoe UI"/>
              </a:defRPr>
            </a:pPr>
            <a:r>
              <a:t>Key Project Impacts &amp; Achievements</a:t>
            </a:r>
          </a:p>
          <a:p>
            <a:pPr>
              <a:spcBef>
                <a:spcPts val="800"/>
              </a:spcBef>
              <a:defRPr sz="1400" b="1">
                <a:solidFill>
                  <a:srgbClr val="0F172A"/>
                </a:solidFill>
                <a:latin typeface="Segoe UI"/>
              </a:defRPr>
            </a:pPr>
            <a:r>
              <a:t>✔  80% Faster Item Recovery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    Automated matching pairs lost items with found posts instantly.</a:t>
            </a:r>
          </a:p>
          <a:p>
            <a:pPr>
              <a:spcBef>
                <a:spcPts val="800"/>
              </a:spcBef>
              <a:defRPr sz="1400" b="1">
                <a:solidFill>
                  <a:srgbClr val="0F172A"/>
                </a:solidFill>
                <a:latin typeface="Segoe UI"/>
              </a:defRPr>
            </a:pPr>
            <a:r>
              <a:t>✔  Zero Lost In-Memory Data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    Durable MySQL schema guarantees items &amp; claims survive restarts.</a:t>
            </a:r>
          </a:p>
          <a:p>
            <a:pPr>
              <a:spcBef>
                <a:spcPts val="800"/>
              </a:spcBef>
              <a:defRPr sz="1400" b="1">
                <a:solidFill>
                  <a:srgbClr val="0F172A"/>
                </a:solidFill>
                <a:latin typeface="Segoe UI"/>
              </a:defRPr>
            </a:pPr>
            <a:r>
              <a:t>✔  Eliminated Fraudulent Claims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    Mandatory proof questions protect high-value student items.</a:t>
            </a:r>
          </a:p>
          <a:p>
            <a:pPr>
              <a:spcBef>
                <a:spcPts val="800"/>
              </a:spcBef>
              <a:defRPr sz="1400" b="1">
                <a:solidFill>
                  <a:srgbClr val="0F172A"/>
                </a:solidFill>
                <a:latin typeface="Segoe UI"/>
              </a:defRPr>
            </a:pPr>
            <a:r>
              <a:t>✔  Independent Scalability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    Microservices scale individually based on peak semester workloads.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25780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578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800" b="1">
                <a:solidFill>
                  <a:srgbClr val="0F172A"/>
                </a:solidFill>
                <a:latin typeface="Segoe UI"/>
              </a:defRPr>
            </a:pPr>
            <a:r>
              <a:t>Future Enhancement Roadmap</a:t>
            </a:r>
          </a:p>
          <a:p>
            <a:pPr>
              <a:spcBef>
                <a:spcPts val="800"/>
              </a:spcBef>
              <a:defRPr sz="1400" b="1">
                <a:solidFill>
                  <a:srgbClr val="0F172A"/>
                </a:solidFill>
                <a:latin typeface="Segoe UI"/>
              </a:defRPr>
            </a:pPr>
            <a:r>
              <a:t>🚀  AI Image Similarity Matching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    Integrate computer vision embeddings to match item photos automatically.</a:t>
            </a:r>
          </a:p>
          <a:p>
            <a:pPr>
              <a:spcBef>
                <a:spcPts val="800"/>
              </a:spcBef>
              <a:defRPr sz="1400" b="1">
                <a:solidFill>
                  <a:srgbClr val="0F172A"/>
                </a:solidFill>
                <a:latin typeface="Segoe UI"/>
              </a:defRPr>
            </a:pPr>
            <a:r>
              <a:t>🚀  Mobile App (React Native / Flutter)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    Native Android and iOS mobile clients with camera integration.</a:t>
            </a:r>
          </a:p>
          <a:p>
            <a:pPr>
              <a:spcBef>
                <a:spcPts val="800"/>
              </a:spcBef>
              <a:defRPr sz="1400" b="1">
                <a:solidFill>
                  <a:srgbClr val="0F172A"/>
                </a:solidFill>
                <a:latin typeface="Segoe UI"/>
              </a:defRPr>
            </a:pPr>
            <a:r>
              <a:t>🚀  Campus NFC / QR-Tagging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    Pre-registered student stickers on laptops and student ID cards for 1-scan returns.</a:t>
            </a:r>
          </a:p>
          <a:p>
            <a:pPr>
              <a:spcBef>
                <a:spcPts val="800"/>
              </a:spcBef>
              <a:defRPr sz="1400" b="1">
                <a:solidFill>
                  <a:srgbClr val="0F172A"/>
                </a:solidFill>
                <a:latin typeface="Segoe UI"/>
              </a:defRPr>
            </a:pPr>
            <a:r>
              <a:t>🚀  SMS &amp; Push Notifications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    Integrate Twilio / Firebase for instant push alerts to mobile phones.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5257800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2011680"/>
            <a:ext cx="1097280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10058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FFFFF"/>
                </a:solidFill>
                <a:latin typeface="Segoe UI"/>
              </a:defRPr>
            </a:pPr>
            <a:r>
              <a:t>Thank You!</a:t>
            </a:r>
          </a:p>
          <a:p>
            <a:pPr>
              <a:spcBef>
                <a:spcPts val="800"/>
              </a:spcBef>
              <a:defRPr sz="2600" b="1">
                <a:solidFill>
                  <a:srgbClr val="818CF8"/>
                </a:solidFill>
                <a:latin typeface="Segoe UI"/>
              </a:defRPr>
            </a:pPr>
            <a:r>
              <a:t>Questions &amp; Answers</a:t>
            </a:r>
          </a:p>
          <a:p>
            <a:pPr>
              <a:spcBef>
                <a:spcPts val="2400"/>
              </a:spcBef>
              <a:defRPr sz="1600">
                <a:solidFill>
                  <a:srgbClr val="CBD5E1"/>
                </a:solidFill>
                <a:latin typeface="Segoe UI"/>
              </a:defRPr>
            </a:pPr>
            <a:r>
              <a:t>Smart Campus Lost &amp; Found Management System</a:t>
            </a:r>
            <a:br/>
            <a:r>
              <a:t>Distributed Microservices Architecture • Spring Boot • React • MySQL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